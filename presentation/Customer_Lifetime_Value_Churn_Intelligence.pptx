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0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95360" y="914400"/>
            <a:ext cx="914400" cy="4480560"/>
          </a:xfrm>
          <a:prstGeom prst="round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914400"/>
            <a:ext cx="640080" cy="4480560"/>
          </a:xfrm>
          <a:prstGeom prst="roundRect">
            <a:avLst/>
          </a:prstGeom>
          <a:solidFill>
            <a:srgbClr val="63B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24160" y="914400"/>
            <a:ext cx="1188720" cy="4480560"/>
          </a:xfrm>
          <a:prstGeom prst="roundRect">
            <a:avLst/>
          </a:prstGeom>
          <a:solidFill>
            <a:srgbClr val="E8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B7D5"/>
                </a:solidFill>
                <a:latin typeface="Aptos"/>
              </a:defRPr>
            </a:pPr>
            <a:r>
              <a:t>CUSTOMER ANALYTICS •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7589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Customer Lifetime Value</a:t>
            </a:r>
            <a:br/>
            <a:r>
              <a:t>&amp; Churn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703320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D8E5F0"/>
                </a:solidFill>
                <a:latin typeface="Aptos"/>
              </a:defRPr>
            </a:pPr>
            <a:r>
              <a:t>From churn risk to retention action: a reproducible data science pipeline with measurable evaluation.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989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1C4D6"/>
                </a:solidFill>
                <a:latin typeface="Aptos"/>
              </a:defRPr>
            </a:pPr>
            <a:r>
              <a:t>Project presentation • 10 minutes •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2039"/>
                </a:solidFill>
                <a:latin typeface="Aptos"/>
              </a:defRPr>
            </a:pPr>
            <a:r>
              <a:t>1. The business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960120" cy="54864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67586"/>
                </a:solidFill>
                <a:latin typeface="Aptos"/>
              </a:defRPr>
            </a:pPr>
            <a:r>
              <a:t>Predictive scores matter only when they support a measurable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58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1920240"/>
          </a:xfrm>
          <a:prstGeom prst="roundRect">
            <a:avLst/>
          </a:prstGeom>
          <a:solidFill>
            <a:srgbClr val="EFF5F9"/>
          </a:solidFill>
          <a:ln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73152" cy="192024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3172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2039"/>
                </a:solidFill>
                <a:latin typeface="Aptos"/>
              </a:defRPr>
            </a:pPr>
            <a:r>
              <a:t>Churn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3172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73649"/>
                </a:solidFill>
                <a:latin typeface="Aptos"/>
              </a:defRPr>
            </a:pPr>
            <a:r>
              <a:t>Which customers are most likely to leave or become inactive?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1920240"/>
          </a:xfrm>
          <a:prstGeom prst="roundRect">
            <a:avLst/>
          </a:prstGeom>
          <a:solidFill>
            <a:srgbClr val="EFF5F9"/>
          </a:solidFill>
          <a:ln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73152" cy="1920240"/>
          </a:xfrm>
          <a:prstGeom prst="rect">
            <a:avLst/>
          </a:prstGeom>
          <a:solidFill>
            <a:srgbClr val="63B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56232"/>
            <a:ext cx="3172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2039"/>
                </a:solidFill>
                <a:latin typeface="Aptos"/>
              </a:defRPr>
            </a:pPr>
            <a:r>
              <a:t>Customer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3172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73649"/>
                </a:solidFill>
                <a:latin typeface="Aptos"/>
              </a:defRPr>
            </a:pPr>
            <a:r>
              <a:t>Which customers generate value, and what might they spend next?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520440" cy="1920240"/>
          </a:xfrm>
          <a:prstGeom prst="roundRect">
            <a:avLst/>
          </a:prstGeom>
          <a:solidFill>
            <a:srgbClr val="EFF5F9"/>
          </a:solidFill>
          <a:ln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73152" cy="1920240"/>
          </a:xfrm>
          <a:prstGeom prst="rect">
            <a:avLst/>
          </a:prstGeom>
          <a:solidFill>
            <a:srgbClr val="E8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56232"/>
            <a:ext cx="3172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2039"/>
                </a:solidFill>
                <a:latin typeface="Aptos"/>
              </a:defRPr>
            </a:pPr>
            <a:r>
              <a:t>Retention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3172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73649"/>
                </a:solidFill>
                <a:latin typeface="Aptos"/>
              </a:defRPr>
            </a:pPr>
            <a:r>
              <a:t>Which customers may respond incrementally to an offer?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10241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73649"/>
                </a:solidFill>
                <a:latin typeface="Aptos"/>
              </a:defRPr>
            </a:pPr>
            <a:r>
              <a:t>•  Turn three disconnected analyses into one documented workflow.</a:t>
            </a:r>
          </a:p>
          <a:p>
            <a:pPr>
              <a:spcAft>
                <a:spcPts val="1000"/>
              </a:spcAft>
              <a:defRPr sz="1600">
                <a:solidFill>
                  <a:srgbClr val="273649"/>
                </a:solidFill>
                <a:latin typeface="Aptos"/>
              </a:defRPr>
            </a:pPr>
            <a:r>
              <a:t>•  Compare model outputs with simple baselines; do not treat scores as proof of business impact.</a:t>
            </a:r>
          </a:p>
          <a:p>
            <a:pPr>
              <a:spcAft>
                <a:spcPts val="1000"/>
              </a:spcAft>
              <a:defRPr sz="1600">
                <a:solidFill>
                  <a:srgbClr val="273649"/>
                </a:solidFill>
                <a:latin typeface="Aptos"/>
              </a:defRPr>
            </a:pPr>
            <a:r>
              <a:t>•  Expose assumptions and limitations in the dashboard and 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2039"/>
                </a:solidFill>
                <a:latin typeface="Aptos"/>
              </a:defRPr>
            </a:pPr>
            <a:r>
              <a:t>2. Data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960120" cy="54864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67586"/>
                </a:solidFill>
                <a:latin typeface="Aptos"/>
              </a:defRPr>
            </a:pPr>
            <a:r>
              <a:t>Separate datasets are used because each task requires a different kind of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58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2880360"/>
          </a:xfrm>
          <a:prstGeom prst="roundRect">
            <a:avLst/>
          </a:prstGeom>
          <a:solidFill>
            <a:srgbClr val="EFF5F9"/>
          </a:solidFill>
          <a:ln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73152" cy="288036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10512"/>
            <a:ext cx="3172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2039"/>
                </a:solidFill>
                <a:latin typeface="Aptos"/>
              </a:defRPr>
            </a:pPr>
            <a:r>
              <a:t>IBM Telco Customer Churn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86000"/>
            <a:ext cx="315468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73649"/>
                </a:solidFill>
                <a:latin typeface="Aptos"/>
              </a:defRPr>
            </a:pPr>
            <a:r>
              <a:t>Task: supervised churn classification</a:t>
            </a:r>
            <a:br/>
            <a:br/>
            <a:r>
              <a:t>Target: observed telecom churn</a:t>
            </a:r>
            <a:br/>
            <a:br/>
            <a:r>
              <a:t>Use: LightGBM, explanations, segmentation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2880360"/>
          </a:xfrm>
          <a:prstGeom prst="roundRect">
            <a:avLst/>
          </a:prstGeom>
          <a:solidFill>
            <a:srgbClr val="EFF5F9"/>
          </a:solidFill>
          <a:ln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73152" cy="2880360"/>
          </a:xfrm>
          <a:prstGeom prst="rect">
            <a:avLst/>
          </a:prstGeom>
          <a:solidFill>
            <a:srgbClr val="63B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10512"/>
            <a:ext cx="3172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2039"/>
                </a:solidFill>
                <a:latin typeface="Aptos"/>
              </a:defRPr>
            </a:pPr>
            <a:r>
              <a:t>Hillstrom email experiment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86000"/>
            <a:ext cx="315468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73649"/>
                </a:solidFill>
                <a:latin typeface="Aptos"/>
              </a:defRPr>
            </a:pPr>
            <a:r>
              <a:t>Task: treatment response / uplift</a:t>
            </a:r>
            <a:br/>
            <a:br/>
            <a:r>
              <a:t>Design: randomized campaign arms</a:t>
            </a:r>
            <a:br/>
            <a:br/>
            <a:r>
              <a:t>Use: estimate response differences for Women’s E-Mail vs No E-Mail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520440" cy="2880360"/>
          </a:xfrm>
          <a:prstGeom prst="roundRect">
            <a:avLst/>
          </a:prstGeom>
          <a:solidFill>
            <a:srgbClr val="EFF5F9"/>
          </a:solidFill>
          <a:ln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73152" cy="2880360"/>
          </a:xfrm>
          <a:prstGeom prst="rect">
            <a:avLst/>
          </a:prstGeom>
          <a:solidFill>
            <a:srgbClr val="E8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10512"/>
            <a:ext cx="3172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2039"/>
                </a:solidFill>
                <a:latin typeface="Aptos"/>
              </a:defRPr>
            </a:pPr>
            <a:r>
              <a:t>UCI Online Retail 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86000"/>
            <a:ext cx="315468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73649"/>
                </a:solidFill>
                <a:latin typeface="Aptos"/>
              </a:defRPr>
            </a:pPr>
            <a:r>
              <a:t>Task: transaction value and inactivity</a:t>
            </a:r>
            <a:br/>
            <a:br/>
            <a:r>
              <a:t>Use: forward 90-day revenue forecast and purchase-inactivity survival proxy</a:t>
            </a:r>
            <a:br/>
            <a:br/>
            <a:r>
              <a:t>Currency in source is GBP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2039"/>
                </a:solidFill>
                <a:latin typeface="Aptos"/>
              </a:defRPr>
            </a:pPr>
            <a:r>
              <a:t>Important: these datasets do not describe one shared customer population. Do not join their customers or present their model scores as one unified production score.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2039"/>
                </a:solidFill>
                <a:latin typeface="Aptos"/>
              </a:defRPr>
            </a:pPr>
            <a:r>
              <a:t>3. End-to-end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960120" cy="54864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67586"/>
                </a:solidFill>
                <a:latin typeface="Aptos"/>
              </a:defRPr>
            </a:pPr>
            <a:r>
              <a:t>A containerized workflow from source data to operational views.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58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86000"/>
            <a:ext cx="146304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244144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AA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6148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2039"/>
                </a:solidFill>
                <a:latin typeface="Aptos"/>
              </a:defRPr>
            </a:pPr>
            <a:r>
              <a:t>Public 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3218688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586"/>
                </a:solidFill>
                <a:latin typeface="Aptos"/>
              </a:defRPr>
            </a:pPr>
            <a:r>
              <a:t>CSV / XLSX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92808" y="2971800"/>
            <a:ext cx="466344" cy="0"/>
          </a:xfrm>
          <a:prstGeom prst="line">
            <a:avLst/>
          </a:prstGeom>
          <a:ln w="25400">
            <a:solidFill>
              <a:srgbClr val="009A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95728" y="2286000"/>
            <a:ext cx="146304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05456" y="244144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AA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76148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2039"/>
                </a:solidFill>
                <a:latin typeface="Aptos"/>
              </a:defRPr>
            </a:pPr>
            <a:r>
              <a:t>Ingestion +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18688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586"/>
                </a:solidFill>
                <a:latin typeface="Aptos"/>
              </a:defRPr>
            </a:pPr>
            <a:r>
              <a:t>Normalize, validate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77056" y="2971800"/>
            <a:ext cx="466344" cy="0"/>
          </a:xfrm>
          <a:prstGeom prst="line">
            <a:avLst/>
          </a:prstGeom>
          <a:ln w="25400">
            <a:solidFill>
              <a:srgbClr val="009A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79976" y="2286000"/>
            <a:ext cx="146304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9704" y="244144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AA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276148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2039"/>
                </a:solidFill>
                <a:latin typeface="Aptos"/>
              </a:defRPr>
            </a:pPr>
            <a:r>
              <a:t>Feature pipelines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3218688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586"/>
                </a:solidFill>
                <a:latin typeface="Aptos"/>
              </a:defRPr>
            </a:pPr>
            <a:r>
              <a:t>RFM / churn / treatment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61304" y="2971800"/>
            <a:ext cx="466344" cy="0"/>
          </a:xfrm>
          <a:prstGeom prst="line">
            <a:avLst/>
          </a:prstGeom>
          <a:ln w="25400">
            <a:solidFill>
              <a:srgbClr val="009A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64224" y="2286000"/>
            <a:ext cx="146304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44144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AA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276148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2039"/>
                </a:solidFill>
                <a:latin typeface="Aptos"/>
              </a:defRPr>
            </a:pPr>
            <a:r>
              <a:t>Model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3218688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586"/>
                </a:solidFill>
                <a:latin typeface="Aptos"/>
              </a:defRPr>
            </a:pPr>
            <a:r>
              <a:t>LightGBM • Cox • uplift • CLV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45552" y="2971800"/>
            <a:ext cx="466344" cy="0"/>
          </a:xfrm>
          <a:prstGeom prst="line">
            <a:avLst/>
          </a:prstGeom>
          <a:ln w="25400">
            <a:solidFill>
              <a:srgbClr val="009A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48472" y="2286000"/>
            <a:ext cx="146304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244144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AA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2" y="276148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2039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21624" y="3218688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586"/>
                </a:solidFill>
                <a:latin typeface="Aptos"/>
              </a:defRPr>
            </a:pPr>
            <a:r>
              <a:t>PostgreSQL + artifacts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29800" y="2971800"/>
            <a:ext cx="466344" cy="0"/>
          </a:xfrm>
          <a:prstGeom prst="line">
            <a:avLst/>
          </a:prstGeom>
          <a:ln w="25400">
            <a:solidFill>
              <a:srgbClr val="009A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332720" y="2286000"/>
            <a:ext cx="146304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42448" y="244144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AA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276148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2039"/>
                </a:solidFill>
                <a:latin typeface="Aptos"/>
              </a:defRPr>
            </a:pPr>
            <a:r>
              <a:t>User interface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05872" y="3218688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586"/>
                </a:solidFill>
                <a:latin typeface="Aptos"/>
              </a:defRPr>
            </a:pPr>
            <a:r>
              <a:t>Streamlit + FastAPI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4343400"/>
            <a:ext cx="475488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5840" y="4343400"/>
            <a:ext cx="73152" cy="105156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07008" y="4507992"/>
            <a:ext cx="4407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2039"/>
                </a:solidFill>
                <a:latin typeface="Aptos"/>
              </a:defRPr>
            </a:pPr>
            <a:r>
              <a:t>Reproducibility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07008" y="4983480"/>
            <a:ext cx="4389120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73649"/>
                </a:solidFill>
                <a:latin typeface="Aptos"/>
              </a:defRPr>
            </a:pPr>
            <a:r>
              <a:t>Docker Compose, pinned dependency ranges, data-source notes, model artifacts, automated tests.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343400"/>
            <a:ext cx="475488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4343400"/>
            <a:ext cx="73152" cy="1051560"/>
          </a:xfrm>
          <a:prstGeom prst="rect">
            <a:avLst/>
          </a:prstGeom>
          <a:solidFill>
            <a:srgbClr val="63B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4507992"/>
            <a:ext cx="4407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2039"/>
                </a:solidFill>
                <a:latin typeface="Aptos"/>
              </a:defRPr>
            </a:pPr>
            <a:r>
              <a:t>Interfaces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1968" y="4983480"/>
            <a:ext cx="4389120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Streamlit dashboard for EDA, individual survival estimates, uplift ranking and two ROI scenarios; FastAPI provides churn, survival and uplift-ROI endpoints.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2039"/>
                </a:solidFill>
                <a:latin typeface="Aptos"/>
              </a:defRPr>
            </a:pPr>
            <a:r>
              <a:t>4. Feature engineering &amp; leakage controls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960120" cy="54864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67586"/>
                </a:solidFill>
                <a:latin typeface="Aptos"/>
              </a:defRPr>
            </a:pPr>
            <a:r>
              <a:t>The CLV forecast uses a strict historical feature window and a future outcome window.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586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2468880"/>
            <a:ext cx="10149840" cy="0"/>
          </a:xfrm>
          <a:prstGeom prst="line">
            <a:avLst/>
          </a:prstGeom>
          <a:ln w="38100">
            <a:solidFill>
              <a:srgbClr val="66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0" y="2267712"/>
            <a:ext cx="384048" cy="384048"/>
          </a:xfrm>
          <a:prstGeom prst="ellipse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2039"/>
                </a:solidFill>
                <a:latin typeface="Aptos"/>
              </a:defRPr>
            </a:pPr>
            <a:r>
              <a:t>Past transactions</a:t>
            </a:r>
          </a:p>
        </p:txBody>
      </p:sp>
      <p:sp>
        <p:nvSpPr>
          <p:cNvPr id="9" name="Oval 8"/>
          <p:cNvSpPr/>
          <p:nvPr/>
        </p:nvSpPr>
        <p:spPr>
          <a:xfrm>
            <a:off x="4754880" y="2267712"/>
            <a:ext cx="384048" cy="384048"/>
          </a:xfrm>
          <a:prstGeom prst="ellipse">
            <a:avLst/>
          </a:prstGeom>
          <a:solidFill>
            <a:srgbClr val="E8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7373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2039"/>
                </a:solidFill>
                <a:latin typeface="Aptos"/>
              </a:defRPr>
            </a:pPr>
            <a:r>
              <a:t>Feature cutoff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2267712"/>
            <a:ext cx="384048" cy="384048"/>
          </a:xfrm>
          <a:prstGeom prst="ellipse">
            <a:avLst/>
          </a:prstGeom>
          <a:solidFill>
            <a:srgbClr val="63B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17373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2039"/>
                </a:solidFill>
                <a:latin typeface="Aptos"/>
              </a:defRPr>
            </a:pPr>
            <a:r>
              <a:t>Next 90 days</a:t>
            </a:r>
          </a:p>
        </p:txBody>
      </p:sp>
      <p:sp>
        <p:nvSpPr>
          <p:cNvPr id="13" name="Oval 12"/>
          <p:cNvSpPr/>
          <p:nvPr/>
        </p:nvSpPr>
        <p:spPr>
          <a:xfrm>
            <a:off x="10607040" y="2267712"/>
            <a:ext cx="384048" cy="384048"/>
          </a:xfrm>
          <a:prstGeom prst="ellipse">
            <a:avLst/>
          </a:prstGeom>
          <a:solidFill>
            <a:srgbClr val="3D9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87000" y="17373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2039"/>
                </a:solidFill>
                <a:latin typeface="Aptos"/>
              </a:defRPr>
            </a:pPr>
            <a:r>
              <a:t>Label window 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3756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Churn features: tenure, charges, contract, service count and charge ratios.</a:t>
            </a:r>
          </a:p>
          <a:p>
            <a:r>
              <a:t>•  Retail features: recency, order count, historical revenue, items, customer age and recent-vs-prior 90-day purchase/revenue trends.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33756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Forecast target: realized revenue after cutoff; test customers are held out.</a:t>
            </a:r>
          </a:p>
          <a:p>
            <a:r>
              <a:t>•  Cancellations and negative quantities are excluded from retail value calculations.</a:t>
            </a:r>
          </a:p>
          <a:p>
            <a:r>
              <a:t>•  Model performance is compared with a mean baseline; no results are assumed.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2039"/>
                </a:solidFill>
                <a:latin typeface="Aptos"/>
              </a:defRPr>
            </a:pPr>
            <a:r>
              <a:t>5. Models and analytical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960120" cy="54864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67586"/>
                </a:solidFill>
                <a:latin typeface="Aptos"/>
              </a:defRPr>
            </a:pPr>
            <a:r>
              <a:t>Different questions require different statistical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58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607040" cy="841248"/>
          </a:xfrm>
          <a:prstGeom prst="roundRect">
            <a:avLst/>
          </a:prstGeom>
          <a:solidFill>
            <a:srgbClr val="EFF5F9"/>
          </a:solidFill>
          <a:ln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73152" cy="841248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719072"/>
            <a:ext cx="102595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2039"/>
                </a:solidFill>
                <a:latin typeface="Aptos"/>
              </a:defRPr>
            </a:pPr>
            <a:r>
              <a:t>Churn  |  LightGBM 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94560"/>
            <a:ext cx="102412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73649"/>
                </a:solidFill>
                <a:latin typeface="Aptos"/>
              </a:defRPr>
            </a:pPr>
            <a:r>
              <a:t>ROC-AUC, PR-AUC, Brier, precision/recall; SHAP or permutation fallback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633472"/>
            <a:ext cx="10607040" cy="841248"/>
          </a:xfrm>
          <a:prstGeom prst="roundRect">
            <a:avLst/>
          </a:prstGeom>
          <a:solidFill>
            <a:srgbClr val="EFF5F9"/>
          </a:solidFill>
          <a:ln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633472"/>
            <a:ext cx="73152" cy="841248"/>
          </a:xfrm>
          <a:prstGeom prst="rect">
            <a:avLst/>
          </a:prstGeom>
          <a:solidFill>
            <a:srgbClr val="63B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798064"/>
            <a:ext cx="102595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2039"/>
                </a:solidFill>
                <a:latin typeface="Aptos"/>
              </a:defRPr>
            </a:pPr>
            <a:r>
              <a:t>Survival  |  Kaplan–Meier + Cox 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73552"/>
            <a:ext cx="102412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73649"/>
                </a:solidFill>
                <a:latin typeface="Aptos"/>
              </a:defRPr>
            </a:pPr>
            <a:r>
              <a:t>Median survival, concordance, proportional-hazards diagnostic; inactivity is a proxy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12463"/>
            <a:ext cx="10607040" cy="841248"/>
          </a:xfrm>
          <a:prstGeom prst="roundRect">
            <a:avLst/>
          </a:prstGeom>
          <a:solidFill>
            <a:srgbClr val="EFF5F9"/>
          </a:solidFill>
          <a:ln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712463"/>
            <a:ext cx="73152" cy="841248"/>
          </a:xfrm>
          <a:prstGeom prst="rect">
            <a:avLst/>
          </a:prstGeom>
          <a:solidFill>
            <a:srgbClr val="E8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877055"/>
            <a:ext cx="102595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2039"/>
                </a:solidFill>
                <a:latin typeface="Aptos"/>
              </a:defRPr>
            </a:pPr>
            <a:r>
              <a:t>Uplift  |  CausalML T-learner / sklearn 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352544"/>
            <a:ext cx="102412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73649"/>
                </a:solidFill>
                <a:latin typeface="Aptos"/>
              </a:defRPr>
            </a:pPr>
            <a:r>
              <a:t>Held-out randomized-arm response differences by predicted-uplift group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791456"/>
            <a:ext cx="10607040" cy="841248"/>
          </a:xfrm>
          <a:prstGeom prst="roundRect">
            <a:avLst/>
          </a:prstGeom>
          <a:solidFill>
            <a:srgbClr val="EFF5F9"/>
          </a:solidFill>
          <a:ln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791456"/>
            <a:ext cx="73152" cy="841248"/>
          </a:xfrm>
          <a:prstGeom prst="rect">
            <a:avLst/>
          </a:prstGeom>
          <a:solidFill>
            <a:srgbClr val="3D9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956048"/>
            <a:ext cx="102595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2039"/>
                </a:solidFill>
                <a:latin typeface="Aptos"/>
              </a:defRPr>
            </a:pPr>
            <a:r>
              <a:t>CLV  |  Gradient-boosted regressor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5431536"/>
            <a:ext cx="102412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73649"/>
                </a:solidFill>
                <a:latin typeface="Aptos"/>
              </a:defRPr>
            </a:pPr>
            <a:r>
              <a:t>Predict next 90-day revenue; compare MAE/RMSE with mean baseline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2039"/>
                </a:solidFill>
                <a:latin typeface="Aptos"/>
              </a:defRPr>
            </a:pPr>
            <a:r>
              <a:t>6. Evaluation: what counts as evidence?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960120" cy="54864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67586"/>
                </a:solidFill>
                <a:latin typeface="Aptos"/>
              </a:defRPr>
            </a:pPr>
            <a:r>
              <a:t>The pipeline records metrics; the benchmark run must be inspected before making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58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7472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73152" cy="182880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64792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2039"/>
                </a:solidFill>
                <a:latin typeface="Aptos"/>
              </a:defRPr>
            </a:pPr>
            <a:r>
              <a:t>Predictive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40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73649"/>
                </a:solidFill>
                <a:latin typeface="Aptos"/>
              </a:defRPr>
            </a:pPr>
            <a:r>
              <a:t>Churn: compare ROC-AUC and PR-AUC with prevalence/prior baselines.</a:t>
            </a:r>
            <a:br/>
            <a:r>
              <a:t>CLV: compare test MAE/RMSE with mean prediction.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00200"/>
            <a:ext cx="347472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00200"/>
            <a:ext cx="73152" cy="1828800"/>
          </a:xfrm>
          <a:prstGeom prst="rect">
            <a:avLst/>
          </a:prstGeom>
          <a:solidFill>
            <a:srgbClr val="63B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64792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2039"/>
                </a:solidFill>
                <a:latin typeface="Aptos"/>
              </a:defRPr>
            </a:pPr>
            <a:r>
              <a:t>Causal / survival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73649"/>
                </a:solidFill>
                <a:latin typeface="Aptos"/>
              </a:defRPr>
            </a:pPr>
            <a:r>
              <a:t>Uplift: inspect treatment/control balance and effects by score group.</a:t>
            </a:r>
            <a:br/>
            <a:r>
              <a:t>Cox: inspect concordance and PH test p-values.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47472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73152" cy="1828800"/>
          </a:xfrm>
          <a:prstGeom prst="rect">
            <a:avLst/>
          </a:prstGeom>
          <a:solidFill>
            <a:srgbClr val="E8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764792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Acceptance criteria</a:t>
            </a:r>
          </a:p>
          <a:p/>
          <a:p>
            <a:r>
              <a:t>Recorded software tests: 18 passed, 1 skipped, 6 warnings. The skipped survival integration test requires lifelines, which was not installed in the preparation environment. Install project requirements and rerun before submission.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40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73649"/>
                </a:solidFill>
                <a:latin typeface="Aptos"/>
              </a:defRPr>
            </a:pPr>
            <a:r>
              <a:t>No fabricated metrics.</a:t>
            </a:r>
            <a:br/>
            <a:r>
              <a:t>No success claim if the model fails to beat baseline.</a:t>
            </a:r>
            <a:br/>
            <a:r>
              <a:t>Record warnings, exclusions and runtime.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12039"/>
                </a:solidFill>
                <a:latin typeface="Aptos"/>
              </a:defRPr>
            </a:pPr>
            <a:r>
              <a:t>Run: python -m src.datasets --dataset all  →  python -m src.train_real  →  python -m pytest -q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74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7586"/>
                </a:solidFill>
                <a:latin typeface="Aptos"/>
              </a:defRPr>
            </a:pPr>
            <a:r>
              <a:t>Insert the actual values from artifacts/*_evaluation.json after a successful full-data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2039"/>
                </a:solidFill>
                <a:latin typeface="Aptos"/>
              </a:defRPr>
            </a:pPr>
            <a:r>
              <a:t>7. Demo: dashboard, API and ROI simulator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960120" cy="54864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67586"/>
                </a:solidFill>
                <a:latin typeface="Aptos"/>
              </a:defRPr>
            </a:pPr>
            <a:r>
              <a:t>A user can inspect evidence and test a business scenario without changing model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586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2514600"/>
          </a:xfrm>
          <a:prstGeom prst="roundRect">
            <a:avLst/>
          </a:prstGeom>
          <a:solidFill>
            <a:srgbClr val="EFF5F9"/>
          </a:solidFill>
          <a:ln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251460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3081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2039"/>
                </a:solidFill>
                <a:latin typeface="Aptos"/>
              </a:defRPr>
            </a:pPr>
            <a:r>
              <a:t>Streamlit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86000"/>
            <a:ext cx="3063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73649"/>
                </a:solidFill>
                <a:latin typeface="Aptos"/>
              </a:defRPr>
            </a:pPr>
            <a:r>
              <a:t>EDA and missingness</a:t>
            </a:r>
            <a:br/>
            <a:r>
              <a:t>Churn metrics + feature importance</a:t>
            </a:r>
            <a:br/>
            <a:r>
              <a:t>Survival summary</a:t>
            </a:r>
            <a:br/>
            <a:r>
              <a:t>Uplift evaluation</a:t>
            </a:r>
            <a:br/>
            <a:r>
              <a:t>CLV forecast</a:t>
            </a:r>
            <a:br/>
            <a:r>
              <a:t>Segment profiles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2514600"/>
          </a:xfrm>
          <a:prstGeom prst="roundRect">
            <a:avLst/>
          </a:prstGeom>
          <a:solidFill>
            <a:srgbClr val="EFF5F9"/>
          </a:solidFill>
          <a:ln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73152" cy="2514600"/>
          </a:xfrm>
          <a:prstGeom prst="rect">
            <a:avLst/>
          </a:prstGeom>
          <a:solidFill>
            <a:srgbClr val="63B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10512"/>
            <a:ext cx="3081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2039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86000"/>
            <a:ext cx="3063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GET /health</a:t>
            </a:r>
            <a:br/>
            <a:r>
              <a:t>POST /predict/churn</a:t>
            </a:r>
            <a:br/>
            <a:r>
              <a:t>POST /simulate/roi</a:t>
            </a:r>
            <a:br/>
            <a:r>
              <a:t>POST /simulate/uplift-roi</a:t>
            </a:r>
            <a:br/>
            <a:r>
              <a:t>GET /customers/{id}/survival</a:t>
            </a:r>
            <a:br/>
            <a:r>
              <a:t>OpenAPI docs at /docs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29000" cy="2514600"/>
          </a:xfrm>
          <a:prstGeom prst="roundRect">
            <a:avLst/>
          </a:prstGeom>
          <a:solidFill>
            <a:srgbClr val="EFF5F9"/>
          </a:solidFill>
          <a:ln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73152" cy="2514600"/>
          </a:xfrm>
          <a:prstGeom prst="rect">
            <a:avLst/>
          </a:prstGeom>
          <a:solidFill>
            <a:srgbClr val="E8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10512"/>
            <a:ext cx="3081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2039"/>
                </a:solidFill>
                <a:latin typeface="Aptos"/>
              </a:defRPr>
            </a:pPr>
            <a:r>
              <a:t>ROI scenario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86000"/>
            <a:ext cx="3063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Inputs: top-uplift targeting fraction, discount per conversion, contact cost, contribution per conversion and margin.</a:t>
            </a:r>
            <a:br/>
            <a:br/>
            <a:r>
              <a:t>Outputs: expected incremental conversions, offer cost, net benefit and ROI.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retention simulator uses an explicit lift assumption. The Hillstrom campaign simulator uses estimated email conversion uplift; validate with a new randomized experiment before spending budget.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2039"/>
                </a:solidFill>
                <a:latin typeface="Aptos"/>
              </a:defRPr>
            </a:pPr>
            <a:r>
              <a:t>8. Limitations and responsible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960120" cy="54864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67586"/>
                </a:solidFill>
                <a:latin typeface="Aptos"/>
              </a:defRPr>
            </a:pPr>
            <a:r>
              <a:t>Known constraints are part of the deliverable—not footnotes to hide.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586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4241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 Datasets come from different domains, periods and populations; outputs are not directly joinable.</a:t>
            </a:r>
          </a:p>
          <a:p>
            <a:r>
              <a:t>•  IBM Telco has no complaint log or longitudinal usage history; these fields are not fabricated.</a:t>
            </a:r>
          </a:p>
          <a:p>
            <a:r>
              <a:t>•  Online Retail II has no confirmed contractual churn label; inactivity is an operational proxy.</a:t>
            </a:r>
          </a:p>
          <a:p>
            <a:r>
              <a:t>•  A single 90-day revenue window is not a fully calibrated long-horizon lifetime value forecast.</a:t>
            </a:r>
          </a:p>
          <a:p>
            <a:r>
              <a:t>•  Annualized contribution value depends on an assumed margin.</a:t>
            </a:r>
          </a:p>
          <a:p>
            <a:r>
              <a:t>•  Uplift is email conversion response, not telecom retention; confirm with a randomized experiment.</a:t>
            </a:r>
          </a:p>
          <a:p>
            <a:r>
              <a:t>•  Docker, real-data training, PostgreSQL and UI must pass local end-to-end checks before claiming completion.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2039"/>
                </a:solidFill>
                <a:latin typeface="Aptos"/>
              </a:defRPr>
            </a:pPr>
            <a:r>
              <a:t>9. Delivery checklist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960120" cy="54864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67586"/>
                </a:solidFill>
                <a:latin typeface="Aptos"/>
              </a:defRPr>
            </a:pPr>
            <a:r>
              <a:t>What is included now, and what must be demonstrated before final submission.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58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57800" cy="2057400"/>
          </a:xfrm>
          <a:prstGeom prst="roundRect">
            <a:avLst/>
          </a:prstGeom>
          <a:solidFill>
            <a:srgbClr val="EFF5F9"/>
          </a:solidFill>
          <a:ln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205740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73351"/>
            <a:ext cx="4910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2039"/>
                </a:solidFill>
                <a:latin typeface="Aptos"/>
              </a:defRPr>
            </a:pPr>
            <a:r>
              <a:t>Included in the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48839"/>
            <a:ext cx="4892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73649"/>
                </a:solidFill>
                <a:latin typeface="Aptos"/>
              </a:defRPr>
            </a:pPr>
            <a:r>
              <a:t>Source code and data downloaders</a:t>
            </a:r>
            <a:br/>
            <a:r>
              <a:t>Feature engineering + model training</a:t>
            </a:r>
            <a:br/>
            <a:r>
              <a:t>Dashboard, API, PostgreSQL schema</a:t>
            </a:r>
            <a:br/>
            <a:r>
              <a:t>Tests and documentation</a:t>
            </a:r>
            <a:br/>
            <a:r>
              <a:t>This 10-minute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57800" cy="2057400"/>
          </a:xfrm>
          <a:prstGeom prst="roundRect">
            <a:avLst/>
          </a:prstGeom>
          <a:solidFill>
            <a:srgbClr val="EFF5F9"/>
          </a:solidFill>
          <a:ln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73152" cy="2057400"/>
          </a:xfrm>
          <a:prstGeom prst="rect">
            <a:avLst/>
          </a:prstGeom>
          <a:solidFill>
            <a:srgbClr val="E8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73351"/>
            <a:ext cx="4910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2039"/>
                </a:solidFill>
                <a:latin typeface="Aptos"/>
              </a:defRPr>
            </a:pPr>
            <a:r>
              <a:t>Must be verified locally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48839"/>
            <a:ext cx="4892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73649"/>
                </a:solidFill>
                <a:latin typeface="Aptos"/>
              </a:defRPr>
            </a:pPr>
            <a:r>
              <a:t>Docker build/start and DB persistence</a:t>
            </a:r>
            <a:br/>
            <a:r>
              <a:t>Full real-data download and training</a:t>
            </a:r>
            <a:br/>
            <a:r>
              <a:t>Actual metrics + artifact inspection</a:t>
            </a:r>
            <a:br/>
            <a:r>
              <a:t>Dashboard/API end-to-end smoke test</a:t>
            </a:r>
            <a:br/>
            <a:r>
              <a:t>GitHub publication and screen recording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2039"/>
                </a:solidFill>
                <a:latin typeface="Aptos"/>
              </a:defRPr>
            </a:pPr>
            <a:r>
              <a:t>Decision rule: publish measured metrics and honest limitations; if any acceptance check fails, document and fix it before presenting the system as complete.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AA0"/>
                </a:solidFill>
                <a:latin typeface="Aptos"/>
              </a:defRPr>
            </a:pPr>
            <a: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